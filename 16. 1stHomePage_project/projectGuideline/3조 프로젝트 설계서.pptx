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82" r:id="rId5"/>
    <p:sldId id="291" r:id="rId6"/>
    <p:sldId id="292" r:id="rId7"/>
    <p:sldId id="267" r:id="rId8"/>
    <p:sldId id="281" r:id="rId9"/>
    <p:sldId id="261" r:id="rId10"/>
    <p:sldId id="293" r:id="rId11"/>
    <p:sldId id="294" r:id="rId12"/>
    <p:sldId id="295" r:id="rId13"/>
    <p:sldId id="265" r:id="rId14"/>
    <p:sldId id="284" r:id="rId15"/>
    <p:sldId id="290" r:id="rId16"/>
    <p:sldId id="262" r:id="rId17"/>
    <p:sldId id="263" r:id="rId18"/>
    <p:sldId id="264" r:id="rId19"/>
    <p:sldId id="26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F79"/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220861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tx1"/>
                </a:solidFill>
              </a:rPr>
              <a:t>메가스터디북스 공식 </a:t>
            </a:r>
            <a:r>
              <a:rPr lang="ko-KR" altLang="en-US" sz="2000" smtClean="0">
                <a:solidFill>
                  <a:schemeClr val="tx1"/>
                </a:solidFill>
              </a:rPr>
              <a:t>홈페이지</a:t>
            </a:r>
            <a:r>
              <a:rPr lang="en-US" altLang="ko-KR" sz="2000" smtClean="0">
                <a:solidFill>
                  <a:schemeClr val="tx1"/>
                </a:solidFill>
              </a:rPr>
              <a:t/>
            </a:r>
            <a:br>
              <a:rPr lang="en-US" altLang="ko-KR" sz="2000" smtClean="0">
                <a:solidFill>
                  <a:schemeClr val="tx1"/>
                </a:solidFill>
              </a:rPr>
            </a:br>
            <a:r>
              <a:rPr lang="en-US" altLang="ko-KR" sz="2000" smtClean="0">
                <a:solidFill>
                  <a:schemeClr val="tx1"/>
                </a:solidFill>
              </a:rPr>
              <a:t>UI </a:t>
            </a:r>
            <a:r>
              <a:rPr lang="ko-KR" altLang="en-US" sz="2000">
                <a:solidFill>
                  <a:schemeClr val="tx1"/>
                </a:solidFill>
              </a:rPr>
              <a:t>및 반응형 웹페이지 개선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31294"/>
              </p:ext>
            </p:extLst>
          </p:nvPr>
        </p:nvGraphicFramePr>
        <p:xfrm>
          <a:off x="3541464" y="4090643"/>
          <a:ext cx="4840448" cy="192915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56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버전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2.0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+mj-lt"/>
                        </a:rPr>
                        <a:t>작성일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solidFill>
                            <a:schemeClr val="bg1"/>
                          </a:solidFill>
                          <a:latin typeface="+mj-lt"/>
                        </a:rPr>
                        <a:t>2025.09.05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+mj-lt"/>
                        </a:rPr>
                        <a:t>소속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solidFill>
                            <a:schemeClr val="bg1"/>
                          </a:solidFill>
                          <a:latin typeface="+mj-lt"/>
                        </a:rPr>
                        <a:t>3</a:t>
                      </a:r>
                      <a:r>
                        <a:rPr lang="ko-KR" altLang="en-US" sz="1200" smtClean="0">
                          <a:solidFill>
                            <a:schemeClr val="bg1"/>
                          </a:solidFill>
                          <a:latin typeface="+mj-lt"/>
                        </a:rPr>
                        <a:t>조</a:t>
                      </a:r>
                      <a:endParaRPr lang="en-US" altLang="ko-KR" sz="1200" smtClean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+mj-lt"/>
                        </a:rPr>
                        <a:t>작성자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bg1"/>
                          </a:solidFill>
                          <a:latin typeface="+mj-lt"/>
                        </a:rPr>
                        <a:t>이재영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이등변 삼각형 4"/>
          <p:cNvSpPr/>
          <p:nvPr/>
        </p:nvSpPr>
        <p:spPr>
          <a:xfrm rot="5400000">
            <a:off x="239259" y="-3798910"/>
            <a:ext cx="10177543" cy="1410531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6342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3000" b="1" smtClean="0"/>
              <a:t>          목차</a:t>
            </a:r>
            <a:endParaRPr lang="ko-KR" altLang="en-US" sz="3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5C5117-9CD5-42FF-8518-94C127297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290" y="1561193"/>
            <a:ext cx="5495925" cy="16224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2000" b="1" smtClean="0">
                <a:latin typeface="+mj-ea"/>
                <a:ea typeface="+mj-ea"/>
              </a:rPr>
              <a:t>1</a:t>
            </a:r>
            <a:r>
              <a:rPr lang="en-US" altLang="ko-KR" sz="2000" smtClean="0">
                <a:latin typeface="+mj-ea"/>
                <a:ea typeface="+mj-ea"/>
              </a:rPr>
              <a:t>. </a:t>
            </a:r>
            <a:r>
              <a:rPr lang="ko-KR" altLang="en-US" sz="2000" smtClean="0">
                <a:latin typeface="+mj-ea"/>
                <a:ea typeface="+mj-ea"/>
              </a:rPr>
              <a:t>히스토리</a:t>
            </a:r>
            <a:endParaRPr lang="en-US" altLang="ko-KR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2000" b="1" smtClean="0">
                <a:latin typeface="+mj-ea"/>
                <a:ea typeface="+mj-ea"/>
              </a:rPr>
              <a:t>2</a:t>
            </a:r>
            <a:r>
              <a:rPr lang="en-US" altLang="ko-KR" sz="2000" smtClean="0">
                <a:latin typeface="+mj-ea"/>
                <a:ea typeface="+mj-ea"/>
              </a:rPr>
              <a:t>. </a:t>
            </a:r>
            <a:r>
              <a:rPr lang="ko-KR" altLang="en-US" sz="2000" smtClean="0">
                <a:latin typeface="+mj-ea"/>
                <a:ea typeface="+mj-ea"/>
              </a:rPr>
              <a:t>메뉴구조</a:t>
            </a:r>
            <a:r>
              <a:rPr lang="en-US" altLang="ko-KR" sz="2000" dirty="0">
                <a:latin typeface="+mj-ea"/>
                <a:ea typeface="+mj-ea"/>
              </a:rPr>
              <a:t>(</a:t>
            </a:r>
            <a:r>
              <a:rPr lang="ko-KR" altLang="en-US" sz="2000" dirty="0" err="1">
                <a:latin typeface="+mj-ea"/>
                <a:ea typeface="+mj-ea"/>
              </a:rPr>
              <a:t>사이트맵</a:t>
            </a:r>
            <a:r>
              <a:rPr lang="en-US" altLang="ko-KR" sz="2000" dirty="0" smtClean="0">
                <a:latin typeface="+mj-ea"/>
                <a:ea typeface="+mj-ea"/>
              </a:rPr>
              <a:t>)</a:t>
            </a:r>
            <a:endParaRPr lang="en-US" altLang="ko-KR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2000" b="1" smtClean="0">
                <a:latin typeface="+mj-ea"/>
                <a:ea typeface="+mj-ea"/>
              </a:rPr>
              <a:t>3</a:t>
            </a:r>
            <a:r>
              <a:rPr lang="en-US" altLang="ko-KR" sz="2000" smtClean="0">
                <a:latin typeface="+mj-ea"/>
                <a:ea typeface="+mj-ea"/>
              </a:rPr>
              <a:t>. </a:t>
            </a:r>
            <a:r>
              <a:rPr lang="ko-KR" altLang="en-US" sz="2000" smtClean="0">
                <a:latin typeface="+mj-ea"/>
                <a:ea typeface="+mj-ea"/>
              </a:rPr>
              <a:t>설계</a:t>
            </a:r>
            <a:endParaRPr lang="en-US" altLang="ko-KR" sz="2000" dirty="0" smtClean="0">
              <a:latin typeface="+mj-ea"/>
              <a:ea typeface="+mj-ea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F5C5117-9CD5-42FF-8518-94C12729717E}"/>
              </a:ext>
            </a:extLst>
          </p:cNvPr>
          <p:cNvSpPr txBox="1">
            <a:spLocks/>
          </p:cNvSpPr>
          <p:nvPr/>
        </p:nvSpPr>
        <p:spPr>
          <a:xfrm>
            <a:off x="1433290" y="2674029"/>
            <a:ext cx="5495925" cy="2767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3-1</a:t>
            </a:r>
            <a:r>
              <a:rPr lang="en-US" altLang="ko-KR" sz="1600">
                <a:latin typeface="+mj-ea"/>
              </a:rPr>
              <a:t>. </a:t>
            </a:r>
            <a:r>
              <a:rPr lang="ko-KR" altLang="en-US" sz="1600">
                <a:latin typeface="+mj-ea"/>
              </a:rPr>
              <a:t>아키텍처</a:t>
            </a:r>
            <a:endParaRPr lang="en-US" altLang="ko-KR" sz="1600">
              <a:latin typeface="+mj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3-2</a:t>
            </a:r>
            <a:r>
              <a:rPr lang="en-US" altLang="ko-KR" sz="1600">
                <a:latin typeface="+mj-ea"/>
              </a:rPr>
              <a:t>. DB</a:t>
            </a:r>
            <a:r>
              <a:rPr lang="ko-KR" altLang="en-US" sz="1600">
                <a:latin typeface="+mj-ea"/>
              </a:rPr>
              <a:t>설계</a:t>
            </a:r>
            <a:endParaRPr lang="en-US" altLang="ko-KR" sz="1600">
              <a:latin typeface="+mj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3-3</a:t>
            </a:r>
            <a:r>
              <a:rPr lang="en-US" altLang="ko-KR" sz="1600">
                <a:latin typeface="+mj-ea"/>
              </a:rPr>
              <a:t>. UI/UX</a:t>
            </a:r>
            <a:r>
              <a:rPr lang="ko-KR" altLang="en-US" sz="1600">
                <a:latin typeface="+mj-ea"/>
              </a:rPr>
              <a:t>설계</a:t>
            </a:r>
            <a:endParaRPr lang="en-US" altLang="ko-KR" sz="1600">
              <a:latin typeface="+mj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3-4</a:t>
            </a:r>
            <a:r>
              <a:rPr lang="en-US" altLang="ko-KR" sz="1600">
                <a:latin typeface="+mj-ea"/>
              </a:rPr>
              <a:t>. Flow-Chart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3-5</a:t>
            </a:r>
            <a:r>
              <a:rPr lang="en-US" altLang="ko-KR" sz="1600">
                <a:latin typeface="+mj-ea"/>
              </a:rPr>
              <a:t>. </a:t>
            </a:r>
            <a:r>
              <a:rPr lang="ko-KR" altLang="en-US" sz="1600">
                <a:latin typeface="+mj-ea"/>
              </a:rPr>
              <a:t>정책</a:t>
            </a:r>
            <a:endParaRPr lang="en-US" altLang="ko-KR" sz="1600">
              <a:latin typeface="+mj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3-6</a:t>
            </a:r>
            <a:r>
              <a:rPr lang="en-US" altLang="ko-KR" sz="1600">
                <a:latin typeface="+mj-ea"/>
              </a:rPr>
              <a:t>. </a:t>
            </a:r>
            <a:r>
              <a:rPr lang="ko-KR" altLang="en-US" sz="1600">
                <a:latin typeface="+mj-ea"/>
              </a:rPr>
              <a:t>권한</a:t>
            </a:r>
            <a:endParaRPr lang="en-US" altLang="ko-KR" sz="1600">
              <a:latin typeface="+mj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b="1" smtClean="0">
                <a:latin typeface="+mj-ea"/>
              </a:rPr>
              <a:t>3-7</a:t>
            </a:r>
            <a:r>
              <a:rPr lang="en-US" altLang="ko-KR" sz="1600">
                <a:latin typeface="+mj-ea"/>
              </a:rPr>
              <a:t>. </a:t>
            </a:r>
            <a:r>
              <a:rPr lang="ko-KR" altLang="en-US" sz="1600">
                <a:latin typeface="+mj-ea"/>
              </a:rPr>
              <a:t>유효성검사</a:t>
            </a:r>
            <a:endParaRPr lang="en-US" altLang="ko-KR" sz="1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4899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12548"/>
              </p:ext>
            </p:extLst>
          </p:nvPr>
        </p:nvGraphicFramePr>
        <p:xfrm>
          <a:off x="635000" y="1308098"/>
          <a:ext cx="10883900" cy="48926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1196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1528083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6161628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1882993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698954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400" b="1" dirty="0">
                          <a:latin typeface="+mj-lt"/>
                        </a:rPr>
                        <a:t>version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dirty="0">
                          <a:latin typeface="+mj-lt"/>
                        </a:rPr>
                        <a:t>작성자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dirty="0">
                          <a:latin typeface="+mj-lt"/>
                        </a:rPr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dirty="0">
                          <a:latin typeface="+mj-lt"/>
                        </a:rPr>
                        <a:t>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dirty="0">
                          <a:latin typeface="+mj-lt"/>
                        </a:rPr>
                        <a:t>1.0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이재영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최초 요구사항 도출 문서 작성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2025. 09. 03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1.1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이재영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요구사항 및 프로젝트 일정 전체 수정 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2025. 09. 04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1.2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이재영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그누보드를 활용한 게시판 작업 방향 수정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2025. 09. 05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2.0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mtClean="0">
                          <a:latin typeface="+mj-lt"/>
                        </a:rPr>
                        <a:t>이재영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반응형 웹페이</a:t>
                      </a:r>
                      <a:r>
                        <a:rPr lang="ko-KR" altLang="en-US" sz="1200" baseline="0" smtClean="0">
                          <a:latin typeface="+mj-lt"/>
                        </a:rPr>
                        <a:t>지 및 홈페이지 </a:t>
                      </a:r>
                      <a:r>
                        <a:rPr lang="en-US" altLang="ko-KR" sz="1200" baseline="0" smtClean="0">
                          <a:latin typeface="+mj-lt"/>
                        </a:rPr>
                        <a:t>UI </a:t>
                      </a:r>
                      <a:r>
                        <a:rPr lang="ko-KR" altLang="en-US" sz="1200" baseline="0" smtClean="0">
                          <a:latin typeface="+mj-lt"/>
                        </a:rPr>
                        <a:t>테스트 및 전면 수정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smtClean="0">
                          <a:latin typeface="+mj-lt"/>
                        </a:rPr>
                        <a:t>2025. 09. 08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  <p:sp>
        <p:nvSpPr>
          <p:cNvPr id="7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1. </a:t>
            </a:r>
            <a:r>
              <a:rPr lang="ko-KR" altLang="en-US" sz="2800" b="1" smtClean="0"/>
              <a:t>히스토리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2. </a:t>
            </a:r>
            <a:r>
              <a:rPr lang="ko-KR" altLang="en-US" sz="2800" b="1" smtClean="0"/>
              <a:t>메뉴구조</a:t>
            </a:r>
            <a:r>
              <a:rPr lang="en-US" altLang="ko-KR" sz="2800" b="1" smtClean="0"/>
              <a:t>(</a:t>
            </a:r>
            <a:r>
              <a:rPr lang="ko-KR" altLang="en-US" sz="2800" b="1" smtClean="0"/>
              <a:t>사이트맵</a:t>
            </a:r>
            <a:r>
              <a:rPr lang="en-US" altLang="ko-KR" sz="2800" b="1" smtClean="0"/>
              <a:t>)</a:t>
            </a:r>
            <a:endParaRPr lang="ko-KR" altLang="en-US" sz="28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1229418"/>
            <a:ext cx="9000000" cy="479415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cxnSp>
        <p:nvCxnSpPr>
          <p:cNvPr id="16" name="직선 연결선 15"/>
          <p:cNvCxnSpPr/>
          <p:nvPr/>
        </p:nvCxnSpPr>
        <p:spPr>
          <a:xfrm>
            <a:off x="9569514" y="801461"/>
            <a:ext cx="6381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0207689" y="801461"/>
            <a:ext cx="0" cy="5048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1670645" y="1306286"/>
            <a:ext cx="8844955" cy="578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758349" y="656903"/>
            <a:ext cx="1880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HEADER </a:t>
            </a:r>
            <a:r>
              <a:rPr lang="ko-KR" altLang="en-US" sz="1400" smtClean="0"/>
              <a:t>구역의 개선</a:t>
            </a:r>
            <a:endParaRPr lang="ko-KR" altLang="en-US" sz="1400"/>
          </a:p>
        </p:txBody>
      </p:sp>
      <p:sp>
        <p:nvSpPr>
          <p:cNvPr id="21" name="직사각형 20"/>
          <p:cNvSpPr/>
          <p:nvPr/>
        </p:nvSpPr>
        <p:spPr>
          <a:xfrm>
            <a:off x="1670645" y="2107745"/>
            <a:ext cx="8844955" cy="2538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10207689" y="4646644"/>
            <a:ext cx="0" cy="295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9888601" y="4942610"/>
            <a:ext cx="307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46103" y="4788722"/>
            <a:ext cx="2007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slickSlider </a:t>
            </a:r>
            <a:r>
              <a:rPr lang="ko-KR" altLang="en-US" sz="1400" smtClean="0"/>
              <a:t>기능 정상화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295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122" y="1221510"/>
            <a:ext cx="9000000" cy="465041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2. </a:t>
            </a:r>
            <a:r>
              <a:rPr lang="ko-KR" altLang="en-US" sz="2800" b="1" smtClean="0"/>
              <a:t>메뉴구조</a:t>
            </a:r>
            <a:r>
              <a:rPr lang="en-US" altLang="ko-KR" sz="2800" b="1" smtClean="0"/>
              <a:t>(</a:t>
            </a:r>
            <a:r>
              <a:rPr lang="ko-KR" altLang="en-US" sz="2800" b="1" smtClean="0"/>
              <a:t>사이트맵</a:t>
            </a:r>
            <a:r>
              <a:rPr lang="en-US" altLang="ko-KR" sz="2800" b="1" smtClean="0"/>
              <a:t>)</a:t>
            </a:r>
            <a:endParaRPr lang="ko-KR" altLang="en-US" sz="2800" b="1" dirty="0"/>
          </a:p>
        </p:txBody>
      </p:sp>
      <p:sp>
        <p:nvSpPr>
          <p:cNvPr id="21" name="직사각형 20"/>
          <p:cNvSpPr/>
          <p:nvPr/>
        </p:nvSpPr>
        <p:spPr>
          <a:xfrm>
            <a:off x="1670645" y="2107745"/>
            <a:ext cx="8844955" cy="3686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10207689" y="5793975"/>
            <a:ext cx="0" cy="538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9888601" y="6332537"/>
            <a:ext cx="307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78356" y="6178649"/>
            <a:ext cx="271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MAIN section contents</a:t>
            </a:r>
            <a:r>
              <a:rPr lang="ko-KR" altLang="en-US" sz="1400" smtClean="0"/>
              <a:t> </a:t>
            </a:r>
            <a:r>
              <a:rPr lang="en-US" altLang="ko-KR" sz="1400" smtClean="0"/>
              <a:t>UI </a:t>
            </a:r>
            <a:r>
              <a:rPr lang="ko-KR" altLang="en-US" sz="1400" smtClean="0"/>
              <a:t>개편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9475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3-1.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아키텍처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메뉴 구조</a:t>
            </a:r>
            <a:endParaRPr lang="ko-KR" altLang="en-US" sz="2800" b="1" dirty="0"/>
          </a:p>
        </p:txBody>
      </p:sp>
      <p:sp>
        <p:nvSpPr>
          <p:cNvPr id="9" name="직사각형 8"/>
          <p:cNvSpPr/>
          <p:nvPr/>
        </p:nvSpPr>
        <p:spPr>
          <a:xfrm>
            <a:off x="1026368" y="1362258"/>
            <a:ext cx="1754154" cy="4478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smtClean="0">
                <a:solidFill>
                  <a:schemeClr val="tx1"/>
                </a:solidFill>
              </a:rPr>
              <a:t>HEADER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026368" y="2146033"/>
            <a:ext cx="1754154" cy="447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tx1"/>
                </a:solidFill>
              </a:rPr>
              <a:t>도서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9237310" y="2146033"/>
            <a:ext cx="1754154" cy="447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tx1"/>
                </a:solidFill>
              </a:rPr>
              <a:t>고객센터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806895" y="2146033"/>
            <a:ext cx="1754154" cy="447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tx1"/>
                </a:solidFill>
              </a:rPr>
              <a:t>자료실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596747" y="2146033"/>
            <a:ext cx="1754154" cy="447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tx1"/>
                </a:solidFill>
              </a:rPr>
              <a:t>이벤트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4827" y="292520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└초등</a:t>
            </a:r>
            <a:endParaRPr lang="ko-KR" altLang="en-US" sz="1400" b="1"/>
          </a:p>
        </p:txBody>
      </p:sp>
      <p:sp>
        <p:nvSpPr>
          <p:cNvPr id="69" name="TextBox 68"/>
          <p:cNvSpPr txBox="1"/>
          <p:nvPr/>
        </p:nvSpPr>
        <p:spPr>
          <a:xfrm>
            <a:off x="835496" y="3396331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중등</a:t>
            </a:r>
            <a:endParaRPr lang="ko-KR" altLang="en-US" sz="1400" b="1"/>
          </a:p>
        </p:txBody>
      </p:sp>
      <p:sp>
        <p:nvSpPr>
          <p:cNvPr id="70" name="TextBox 69"/>
          <p:cNvSpPr txBox="1"/>
          <p:nvPr/>
        </p:nvSpPr>
        <p:spPr>
          <a:xfrm>
            <a:off x="835496" y="386745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고등</a:t>
            </a:r>
            <a:endParaRPr lang="ko-KR" altLang="en-US" sz="1400" b="1"/>
          </a:p>
        </p:txBody>
      </p:sp>
      <p:sp>
        <p:nvSpPr>
          <p:cNvPr id="71" name="TextBox 70"/>
          <p:cNvSpPr txBox="1"/>
          <p:nvPr/>
        </p:nvSpPr>
        <p:spPr>
          <a:xfrm>
            <a:off x="835496" y="4338583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단행본</a:t>
            </a:r>
            <a:endParaRPr lang="ko-KR" altLang="en-US" sz="1400" b="1"/>
          </a:p>
        </p:txBody>
      </p:sp>
      <p:sp>
        <p:nvSpPr>
          <p:cNvPr id="73" name="TextBox 72"/>
          <p:cNvSpPr txBox="1"/>
          <p:nvPr/>
        </p:nvSpPr>
        <p:spPr>
          <a:xfrm>
            <a:off x="3635586" y="2925205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└정답 및 해설</a:t>
            </a:r>
            <a:endParaRPr lang="ko-KR" altLang="en-US" sz="1400" b="1"/>
          </a:p>
        </p:txBody>
      </p:sp>
      <p:sp>
        <p:nvSpPr>
          <p:cNvPr id="74" name="TextBox 73"/>
          <p:cNvSpPr txBox="1"/>
          <p:nvPr/>
        </p:nvSpPr>
        <p:spPr>
          <a:xfrm>
            <a:off x="3626255" y="3396331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정오표</a:t>
            </a:r>
            <a:endParaRPr lang="ko-KR" altLang="en-US" sz="1400" b="1"/>
          </a:p>
        </p:txBody>
      </p:sp>
      <p:sp>
        <p:nvSpPr>
          <p:cNvPr id="75" name="TextBox 74"/>
          <p:cNvSpPr txBox="1"/>
          <p:nvPr/>
        </p:nvSpPr>
        <p:spPr>
          <a:xfrm>
            <a:off x="3626255" y="3867457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듣기자료</a:t>
            </a:r>
            <a:endParaRPr lang="ko-KR" altLang="en-US" sz="1400" b="1"/>
          </a:p>
        </p:txBody>
      </p:sp>
      <p:sp>
        <p:nvSpPr>
          <p:cNvPr id="76" name="TextBox 75"/>
          <p:cNvSpPr txBox="1"/>
          <p:nvPr/>
        </p:nvSpPr>
        <p:spPr>
          <a:xfrm>
            <a:off x="3626255" y="4338583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교사용 자료</a:t>
            </a:r>
            <a:endParaRPr lang="ko-KR" altLang="en-US" sz="1400" b="1"/>
          </a:p>
        </p:txBody>
      </p:sp>
      <p:sp>
        <p:nvSpPr>
          <p:cNvPr id="77" name="TextBox 76"/>
          <p:cNvSpPr txBox="1"/>
          <p:nvPr/>
        </p:nvSpPr>
        <p:spPr>
          <a:xfrm>
            <a:off x="3626255" y="4809709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부가자료</a:t>
            </a:r>
            <a:endParaRPr lang="ko-KR" altLang="en-US" sz="1400" b="1"/>
          </a:p>
        </p:txBody>
      </p:sp>
      <p:sp>
        <p:nvSpPr>
          <p:cNvPr id="78" name="TextBox 77"/>
          <p:cNvSpPr txBox="1"/>
          <p:nvPr/>
        </p:nvSpPr>
        <p:spPr>
          <a:xfrm>
            <a:off x="3626255" y="5280835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교사용 이북</a:t>
            </a:r>
            <a:endParaRPr lang="ko-KR" altLang="en-US" sz="1400" b="1"/>
          </a:p>
        </p:txBody>
      </p:sp>
      <p:sp>
        <p:nvSpPr>
          <p:cNvPr id="80" name="TextBox 79"/>
          <p:cNvSpPr txBox="1"/>
          <p:nvPr/>
        </p:nvSpPr>
        <p:spPr>
          <a:xfrm>
            <a:off x="9071794" y="292520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└공지사항</a:t>
            </a:r>
            <a:endParaRPr lang="ko-KR" altLang="en-US" sz="1400" b="1"/>
          </a:p>
        </p:txBody>
      </p:sp>
      <p:sp>
        <p:nvSpPr>
          <p:cNvPr id="81" name="TextBox 80"/>
          <p:cNvSpPr txBox="1"/>
          <p:nvPr/>
        </p:nvSpPr>
        <p:spPr>
          <a:xfrm>
            <a:off x="9062463" y="3396331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고객문의</a:t>
            </a:r>
            <a:endParaRPr lang="ko-KR" altLang="en-US" sz="1400" b="1"/>
          </a:p>
        </p:txBody>
      </p:sp>
      <p:sp>
        <p:nvSpPr>
          <p:cNvPr id="82" name="TextBox 81"/>
          <p:cNvSpPr txBox="1"/>
          <p:nvPr/>
        </p:nvSpPr>
        <p:spPr>
          <a:xfrm>
            <a:off x="9062463" y="3867457"/>
            <a:ext cx="1574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자주 묻는 질문</a:t>
            </a:r>
            <a:endParaRPr lang="ko-KR" altLang="en-US" sz="1400" b="1"/>
          </a:p>
        </p:txBody>
      </p:sp>
      <p:sp>
        <p:nvSpPr>
          <p:cNvPr id="83" name="TextBox 82"/>
          <p:cNvSpPr txBox="1"/>
          <p:nvPr/>
        </p:nvSpPr>
        <p:spPr>
          <a:xfrm>
            <a:off x="9062463" y="4338583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오류 신고</a:t>
            </a:r>
            <a:endParaRPr lang="ko-KR" altLang="en-US" sz="1400" b="1"/>
          </a:p>
        </p:txBody>
      </p:sp>
      <p:sp>
        <p:nvSpPr>
          <p:cNvPr id="84" name="TextBox 83"/>
          <p:cNvSpPr txBox="1"/>
          <p:nvPr/>
        </p:nvSpPr>
        <p:spPr>
          <a:xfrm>
            <a:off x="9062463" y="4809709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총판 안내</a:t>
            </a:r>
            <a:endParaRPr lang="ko-KR" altLang="en-US" sz="1400" b="1"/>
          </a:p>
        </p:txBody>
      </p:sp>
      <p:sp>
        <p:nvSpPr>
          <p:cNvPr id="85" name="TextBox 84"/>
          <p:cNvSpPr txBox="1"/>
          <p:nvPr/>
        </p:nvSpPr>
        <p:spPr>
          <a:xfrm>
            <a:off x="9062463" y="5280835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제휴 문의</a:t>
            </a:r>
            <a:endParaRPr lang="ko-KR" altLang="en-US" sz="1400" b="1"/>
          </a:p>
        </p:txBody>
      </p:sp>
      <p:sp>
        <p:nvSpPr>
          <p:cNvPr id="86" name="TextBox 85"/>
          <p:cNvSpPr txBox="1"/>
          <p:nvPr/>
        </p:nvSpPr>
        <p:spPr>
          <a:xfrm>
            <a:off x="9062463" y="5751961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 </a:t>
            </a:r>
            <a:r>
              <a:rPr lang="ko-KR" altLang="en-US" sz="1400" b="1" smtClean="0"/>
              <a:t>  투고 문의</a:t>
            </a:r>
            <a:endParaRPr lang="ko-KR" altLang="en-US" sz="1400" b="1"/>
          </a:p>
        </p:txBody>
      </p:sp>
      <p:cxnSp>
        <p:nvCxnSpPr>
          <p:cNvPr id="17" name="직선 연결선 16"/>
          <p:cNvCxnSpPr>
            <a:stCxn id="9" idx="2"/>
            <a:endCxn id="47" idx="0"/>
          </p:cNvCxnSpPr>
          <p:nvPr/>
        </p:nvCxnSpPr>
        <p:spPr>
          <a:xfrm>
            <a:off x="1903445" y="1810128"/>
            <a:ext cx="0" cy="335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48" idx="0"/>
          </p:cNvCxnSpPr>
          <p:nvPr/>
        </p:nvCxnSpPr>
        <p:spPr>
          <a:xfrm flipV="1">
            <a:off x="10114387" y="1978066"/>
            <a:ext cx="0" cy="1679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903445" y="1978066"/>
            <a:ext cx="82109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4683972" y="1978066"/>
            <a:ext cx="0" cy="1679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473824" y="1978066"/>
            <a:ext cx="0" cy="1679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7473824" y="1978066"/>
            <a:ext cx="2640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33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49" y="3562226"/>
            <a:ext cx="720000" cy="72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640" y="4395184"/>
            <a:ext cx="720000" cy="72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640" y="2874217"/>
            <a:ext cx="720000" cy="72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43" y="1991203"/>
            <a:ext cx="720000" cy="72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704" y="3561151"/>
            <a:ext cx="720000" cy="720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43" y="5031903"/>
            <a:ext cx="720000" cy="72000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3-1.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아키텍처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프로젝트 전체 현황</a:t>
            </a:r>
            <a:endParaRPr lang="ko-KR" altLang="en-US" sz="2800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044" y="3562226"/>
            <a:ext cx="720000" cy="72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698" y="4402888"/>
            <a:ext cx="720000" cy="720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698" y="2874217"/>
            <a:ext cx="720000" cy="720000"/>
          </a:xfrm>
          <a:prstGeom prst="rect">
            <a:avLst/>
          </a:prstGeom>
        </p:spPr>
      </p:pic>
      <p:grpSp>
        <p:nvGrpSpPr>
          <p:cNvPr id="114" name="그룹 113"/>
          <p:cNvGrpSpPr/>
          <p:nvPr/>
        </p:nvGrpSpPr>
        <p:grpSpPr>
          <a:xfrm>
            <a:off x="4470400" y="2351203"/>
            <a:ext cx="476250" cy="3040700"/>
            <a:chOff x="4470400" y="2099277"/>
            <a:chExt cx="476250" cy="3040700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4946650" y="2099277"/>
              <a:ext cx="0" cy="30407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4470400" y="3625977"/>
              <a:ext cx="4762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1995488" y="3234217"/>
            <a:ext cx="455612" cy="1528671"/>
            <a:chOff x="1995488" y="2982291"/>
            <a:chExt cx="455612" cy="1528671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451100" y="2982291"/>
              <a:ext cx="0" cy="15286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995488" y="3670300"/>
              <a:ext cx="4556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그룹 114"/>
          <p:cNvGrpSpPr/>
          <p:nvPr/>
        </p:nvGrpSpPr>
        <p:grpSpPr>
          <a:xfrm>
            <a:off x="6785086" y="3234217"/>
            <a:ext cx="455612" cy="1528671"/>
            <a:chOff x="6785086" y="2982291"/>
            <a:chExt cx="455612" cy="1528671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7240698" y="2982291"/>
              <a:ext cx="0" cy="15286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6785086" y="3670300"/>
              <a:ext cx="45561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그룹 111"/>
          <p:cNvGrpSpPr/>
          <p:nvPr/>
        </p:nvGrpSpPr>
        <p:grpSpPr>
          <a:xfrm>
            <a:off x="3788228" y="1592855"/>
            <a:ext cx="4776471" cy="900000"/>
            <a:chOff x="3788228" y="1110343"/>
            <a:chExt cx="4776471" cy="900000"/>
          </a:xfrm>
        </p:grpSpPr>
        <p:cxnSp>
          <p:nvCxnSpPr>
            <p:cNvPr id="98" name="직선 화살표 연결선 97"/>
            <p:cNvCxnSpPr/>
            <p:nvPr/>
          </p:nvCxnSpPr>
          <p:spPr>
            <a:xfrm>
              <a:off x="3791890" y="1110343"/>
              <a:ext cx="0" cy="90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>
            <a:xfrm>
              <a:off x="3788228" y="1110343"/>
              <a:ext cx="47764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 flipV="1">
              <a:off x="8564699" y="1110343"/>
              <a:ext cx="0" cy="90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696177" y="6262988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mtClean="0"/>
              <a:t>프로젝트 설계</a:t>
            </a:r>
            <a:endParaRPr lang="ko-KR" altLang="en-US" sz="1100" b="1"/>
          </a:p>
        </p:txBody>
      </p:sp>
      <p:sp>
        <p:nvSpPr>
          <p:cNvPr id="118" name="TextBox 117"/>
          <p:cNvSpPr txBox="1"/>
          <p:nvPr/>
        </p:nvSpPr>
        <p:spPr>
          <a:xfrm>
            <a:off x="3438613" y="6262988"/>
            <a:ext cx="712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/>
              <a:t>DB </a:t>
            </a:r>
            <a:r>
              <a:rPr lang="ko-KR" altLang="en-US" sz="1100" b="1" smtClean="0"/>
              <a:t>설계</a:t>
            </a:r>
            <a:endParaRPr lang="ko-KR" altLang="en-US" sz="1100" b="1"/>
          </a:p>
        </p:txBody>
      </p:sp>
      <p:sp>
        <p:nvSpPr>
          <p:cNvPr id="122" name="TextBox 121"/>
          <p:cNvSpPr txBox="1"/>
          <p:nvPr/>
        </p:nvSpPr>
        <p:spPr>
          <a:xfrm>
            <a:off x="5898763" y="6262988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/>
              <a:t>UI </a:t>
            </a:r>
            <a:r>
              <a:rPr lang="ko-KR" altLang="en-US" sz="1100" b="1" smtClean="0"/>
              <a:t>제작</a:t>
            </a:r>
            <a:endParaRPr lang="ko-KR" altLang="en-US" sz="1100" b="1"/>
          </a:p>
        </p:txBody>
      </p:sp>
      <p:sp>
        <p:nvSpPr>
          <p:cNvPr id="123" name="TextBox 122"/>
          <p:cNvSpPr txBox="1"/>
          <p:nvPr/>
        </p:nvSpPr>
        <p:spPr>
          <a:xfrm>
            <a:off x="8094858" y="6262988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mtClean="0"/>
              <a:t>게시판 작업</a:t>
            </a:r>
            <a:endParaRPr lang="ko-KR" altLang="en-US" sz="1100" b="1"/>
          </a:p>
        </p:txBody>
      </p:sp>
      <p:sp>
        <p:nvSpPr>
          <p:cNvPr id="124" name="TextBox 123"/>
          <p:cNvSpPr txBox="1"/>
          <p:nvPr/>
        </p:nvSpPr>
        <p:spPr>
          <a:xfrm>
            <a:off x="10278914" y="6262988"/>
            <a:ext cx="1462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mtClean="0"/>
              <a:t>통합 테스트 및 배포</a:t>
            </a:r>
            <a:endParaRPr lang="ko-KR" altLang="en-US" sz="1100" b="1"/>
          </a:p>
        </p:txBody>
      </p:sp>
      <p:sp>
        <p:nvSpPr>
          <p:cNvPr id="125" name="TextBox 124"/>
          <p:cNvSpPr txBox="1"/>
          <p:nvPr/>
        </p:nvSpPr>
        <p:spPr>
          <a:xfrm>
            <a:off x="5223806" y="1209427"/>
            <a:ext cx="17443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mtClean="0"/>
              <a:t>작업물 공유 시스템 구축</a:t>
            </a:r>
            <a:endParaRPr lang="en-US" altLang="ko-KR" sz="1100" b="1" smtClean="0"/>
          </a:p>
        </p:txBody>
      </p:sp>
      <p:cxnSp>
        <p:nvCxnSpPr>
          <p:cNvPr id="127" name="직선 화살표 연결선 126"/>
          <p:cNvCxnSpPr/>
          <p:nvPr/>
        </p:nvCxnSpPr>
        <p:spPr>
          <a:xfrm>
            <a:off x="2451100" y="3234217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/>
          <p:nvPr/>
        </p:nvCxnSpPr>
        <p:spPr>
          <a:xfrm>
            <a:off x="2451100" y="4755184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/>
          <p:cNvCxnSpPr/>
          <p:nvPr/>
        </p:nvCxnSpPr>
        <p:spPr>
          <a:xfrm>
            <a:off x="4946650" y="2351203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/>
          <p:cNvCxnSpPr/>
          <p:nvPr/>
        </p:nvCxnSpPr>
        <p:spPr>
          <a:xfrm>
            <a:off x="4946650" y="3880772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/>
          <p:nvPr/>
        </p:nvCxnSpPr>
        <p:spPr>
          <a:xfrm>
            <a:off x="4946650" y="5391903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/>
          <p:cNvCxnSpPr/>
          <p:nvPr/>
        </p:nvCxnSpPr>
        <p:spPr>
          <a:xfrm>
            <a:off x="7240698" y="3234217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/>
          <p:nvPr/>
        </p:nvCxnSpPr>
        <p:spPr>
          <a:xfrm>
            <a:off x="7240698" y="4763755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/>
          <p:nvPr/>
        </p:nvCxnSpPr>
        <p:spPr>
          <a:xfrm>
            <a:off x="9470714" y="3922226"/>
            <a:ext cx="60934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51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3-2.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/DB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46" y="1294455"/>
            <a:ext cx="8468907" cy="387721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142792" y="1679516"/>
            <a:ext cx="1679510" cy="242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61546" y="5420703"/>
            <a:ext cx="167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mtClean="0"/>
              <a:t>그누보드</a:t>
            </a:r>
            <a:r>
              <a:rPr lang="en-US" altLang="ko-KR" sz="1200" b="1" smtClean="0"/>
              <a:t>, FTP</a:t>
            </a:r>
            <a:r>
              <a:rPr lang="ko-KR" altLang="en-US" sz="1200" b="1" smtClean="0"/>
              <a:t>로 대체</a:t>
            </a:r>
            <a:endParaRPr lang="ko-KR" altLang="en-US" sz="1200" b="1"/>
          </a:p>
        </p:txBody>
      </p:sp>
      <p:sp>
        <p:nvSpPr>
          <p:cNvPr id="9" name="직사각형 8"/>
          <p:cNvSpPr/>
          <p:nvPr/>
        </p:nvSpPr>
        <p:spPr>
          <a:xfrm>
            <a:off x="4142792" y="2841176"/>
            <a:ext cx="1679510" cy="242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329403" y="4362068"/>
            <a:ext cx="1679510" cy="242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329403" y="4737798"/>
            <a:ext cx="1679510" cy="242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42792" y="2459876"/>
            <a:ext cx="1679510" cy="242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12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/UI, 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6497883"/>
              </p:ext>
            </p:extLst>
          </p:nvPr>
        </p:nvGraphicFramePr>
        <p:xfrm>
          <a:off x="654050" y="1825361"/>
          <a:ext cx="10883900" cy="3494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9849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1380930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547557924"/>
                    </a:ext>
                  </a:extLst>
                </a:gridCol>
                <a:gridCol w="3582955">
                  <a:extLst>
                    <a:ext uri="{9D8B030D-6E8A-4147-A177-3AD203B41FA5}">
                      <a16:colId xmlns:a16="http://schemas.microsoft.com/office/drawing/2014/main" val="4147876057"/>
                    </a:ext>
                  </a:extLst>
                </a:gridCol>
                <a:gridCol w="1840982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6989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대메뉴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중메뉴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화면</a:t>
                      </a:r>
                      <a:r>
                        <a:rPr lang="en-US" altLang="ko-KR" sz="1400" b="1" smtClean="0">
                          <a:latin typeface="+mj-lt"/>
                        </a:rPr>
                        <a:t>ID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페이지제목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설명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비고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도서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초등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BOOK-001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초등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메가스터디북스의 초등교재 목록 메뉴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중등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BOOK-002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중등</a:t>
                      </a:r>
                      <a:endParaRPr lang="en-US" altLang="ko-KR" sz="1200" smtClean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메가스터디북스의 중등교재 목록 메뉴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고등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BOOK-003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고등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메가스터디북스의 고등교재 목록 메뉴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mtClean="0">
                          <a:latin typeface="+mj-lt"/>
                        </a:rPr>
                        <a:t>단행본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BOOK-004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단행본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메가스터디북스의 단행복 목록 메뉴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/UI, 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5373694"/>
              </p:ext>
            </p:extLst>
          </p:nvPr>
        </p:nvGraphicFramePr>
        <p:xfrm>
          <a:off x="654050" y="1825361"/>
          <a:ext cx="10883900" cy="3494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9849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1380930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547557924"/>
                    </a:ext>
                  </a:extLst>
                </a:gridCol>
                <a:gridCol w="3582955">
                  <a:extLst>
                    <a:ext uri="{9D8B030D-6E8A-4147-A177-3AD203B41FA5}">
                      <a16:colId xmlns:a16="http://schemas.microsoft.com/office/drawing/2014/main" val="4147876057"/>
                    </a:ext>
                  </a:extLst>
                </a:gridCol>
                <a:gridCol w="1840982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6989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대메뉴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중메뉴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화면</a:t>
                      </a:r>
                      <a:r>
                        <a:rPr lang="en-US" altLang="ko-KR" sz="1400" b="1" smtClean="0">
                          <a:latin typeface="+mj-lt"/>
                        </a:rPr>
                        <a:t>ID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페이지제목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설명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비고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자료실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정답 및 해설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DATA-001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정답 및 해설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메가스터디북스 교재의 정답지</a:t>
                      </a:r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해설지를 모아둔 자료실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정오표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DATA-002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정오표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</a:t>
                      </a:r>
                      <a:r>
                        <a:rPr lang="ko-KR" altLang="en-US" sz="120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 교재의 오타 및 수정사항을 모아둔 자료실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듣기자료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DATA-003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듣기자료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</a:t>
                      </a:r>
                      <a:r>
                        <a:rPr lang="ko-KR" altLang="en-US" sz="120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 교재의 듣기 파일 </a:t>
                      </a:r>
                      <a:r>
                        <a:rPr lang="en-US" altLang="ko-KR" sz="120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.MP3</a:t>
                      </a:r>
                      <a:r>
                        <a:rPr lang="ko-KR" altLang="en-US" sz="120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모아둔 자료실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mtClean="0">
                          <a:latin typeface="+mj-lt"/>
                        </a:rPr>
                        <a:t>교사용 자료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DATA-004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교사용 자료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메가스터디북</a:t>
                      </a:r>
                      <a:r>
                        <a:rPr lang="ko-KR" altLang="en-US" sz="120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 교재를 사용하는 교사의 교육용 자료실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28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/UI, 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093927"/>
              </p:ext>
            </p:extLst>
          </p:nvPr>
        </p:nvGraphicFramePr>
        <p:xfrm>
          <a:off x="654050" y="1825361"/>
          <a:ext cx="10883900" cy="3494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9849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1380930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547557924"/>
                    </a:ext>
                  </a:extLst>
                </a:gridCol>
                <a:gridCol w="3582955">
                  <a:extLst>
                    <a:ext uri="{9D8B030D-6E8A-4147-A177-3AD203B41FA5}">
                      <a16:colId xmlns:a16="http://schemas.microsoft.com/office/drawing/2014/main" val="4147876057"/>
                    </a:ext>
                  </a:extLst>
                </a:gridCol>
                <a:gridCol w="1840982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6989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대메뉴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중메뉴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화면</a:t>
                      </a:r>
                      <a:r>
                        <a:rPr lang="en-US" altLang="ko-KR" sz="1400" b="1" smtClean="0">
                          <a:latin typeface="+mj-lt"/>
                        </a:rPr>
                        <a:t>ID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페이지제목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설명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비고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이벤트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EVENT-001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이벤트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메가스터디북스 자체 이벤트 및 일정을 정리해둔 게시판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en-US" altLang="ko-KR" sz="1200" smtClean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65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/UI, 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8929293"/>
              </p:ext>
            </p:extLst>
          </p:nvPr>
        </p:nvGraphicFramePr>
        <p:xfrm>
          <a:off x="654050" y="1825361"/>
          <a:ext cx="10883900" cy="3494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9849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1380930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547557924"/>
                    </a:ext>
                  </a:extLst>
                </a:gridCol>
                <a:gridCol w="3582955">
                  <a:extLst>
                    <a:ext uri="{9D8B030D-6E8A-4147-A177-3AD203B41FA5}">
                      <a16:colId xmlns:a16="http://schemas.microsoft.com/office/drawing/2014/main" val="4147876057"/>
                    </a:ext>
                  </a:extLst>
                </a:gridCol>
                <a:gridCol w="1840982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6989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대메뉴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중메뉴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화면</a:t>
                      </a:r>
                      <a:r>
                        <a:rPr lang="en-US" altLang="ko-KR" sz="1400" b="1" smtClean="0">
                          <a:latin typeface="+mj-lt"/>
                        </a:rPr>
                        <a:t>ID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페이지제목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설명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b="1" smtClean="0">
                          <a:latin typeface="+mj-lt"/>
                        </a:rPr>
                        <a:t>비고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고객센터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공지사항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USER-001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공지사항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메가스터디북스의 중요 공지 및 이용자에게 전달</a:t>
                      </a:r>
                      <a:r>
                        <a:rPr lang="ko-KR" altLang="en-US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 할 알림사항을 모아둔 메뉴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고객문의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USER-002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고객문의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이용자가 메가스터디북스에게 궁금한 점을 해결할 창구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smtClean="0">
                          <a:latin typeface="+mj-lt"/>
                        </a:rPr>
                        <a:t>자주 묻는 질문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USER-003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자주 묻는 질문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이용자가 메가스터디북스에게 자주 물어보는 질문을 모다운 메뉴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698954"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mtClean="0">
                          <a:latin typeface="+mj-lt"/>
                        </a:rPr>
                        <a:t>오류 신고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altLang="ko-KR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USER-004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오류 신고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2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이용자가 메가스터디북스 홈페이지를 이용하며 버그 및 오류 사항을 발견했을 때 신고 할 수 있는 창구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62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650229"/>
              </p:ext>
            </p:extLst>
          </p:nvPr>
        </p:nvGraphicFramePr>
        <p:xfrm>
          <a:off x="238125" y="863058"/>
          <a:ext cx="9360001" cy="6298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70000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5774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4226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70001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940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HD-001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이재영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25-09-03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335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HEADER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/>
                        <a:t>요구사항 </a:t>
                      </a:r>
                      <a:r>
                        <a:rPr lang="en-US" altLang="ko-KR" sz="1200" b="1" dirty="0" smtClean="0"/>
                        <a:t>ID</a:t>
                      </a:r>
                      <a:endParaRPr lang="ko-KR" altLang="en-US" sz="1200" b="1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UI-001,</a:t>
                      </a:r>
                      <a:r>
                        <a:rPr lang="en-US" altLang="ko-KR" sz="1200" baseline="0" smtClean="0"/>
                        <a:t> 002, 003, 004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6" y="1598927"/>
            <a:ext cx="9360000" cy="5040000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48818"/>
              </p:ext>
            </p:extLst>
          </p:nvPr>
        </p:nvGraphicFramePr>
        <p:xfrm>
          <a:off x="9801225" y="863062"/>
          <a:ext cx="2143126" cy="577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96777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 smtClean="0">
                          <a:solidFill>
                            <a:schemeClr val="bg1"/>
                          </a:solidFill>
                        </a:rPr>
                        <a:t>기능 명세서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HEADER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디자인 개편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HEADER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내 메뉴 최적화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각 메뉴 별 게시판 동기화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슬라이드 메뉴 기능 정상화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398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Check Point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</a:t>
                      </a:r>
                      <a:r>
                        <a:rPr lang="ko-KR" altLang="en-US" sz="1000" smtClean="0"/>
                        <a:t>반응형 웹페이지를 충족했는가</a:t>
                      </a:r>
                      <a:r>
                        <a:rPr lang="en-US" altLang="ko-KR" sz="1000" smtClean="0"/>
                        <a:t/>
                      </a:r>
                      <a:br>
                        <a:rPr lang="en-US" altLang="ko-KR" sz="1000" smtClean="0"/>
                      </a:br>
                      <a:r>
                        <a:rPr lang="en-US" altLang="ko-KR" sz="1000" smtClean="0"/>
                        <a:t>-</a:t>
                      </a:r>
                      <a:r>
                        <a:rPr lang="ko-KR" altLang="en-US" sz="1000" smtClean="0"/>
                        <a:t>각 메뉴의 게시판이 기능을 다하는지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58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Related ID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-UI-001,</a:t>
                      </a:r>
                      <a:r>
                        <a:rPr lang="en-US" altLang="ko-KR" sz="1000" baseline="0" smtClean="0"/>
                        <a:t> 002, 003, 004</a:t>
                      </a:r>
                      <a:endParaRPr lang="ko-KR" altLang="en-US" sz="1000" smtClean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/UI_UX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652676"/>
            <a:ext cx="9165689" cy="4932502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2192693" y="1959429"/>
            <a:ext cx="279919" cy="285648"/>
            <a:chOff x="2192693" y="1959429"/>
            <a:chExt cx="279919" cy="285648"/>
          </a:xfrm>
        </p:grpSpPr>
        <p:sp>
          <p:nvSpPr>
            <p:cNvPr id="8" name="타원 7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97839" y="196807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smtClean="0">
                  <a:solidFill>
                    <a:srgbClr val="FF0000"/>
                  </a:solidFill>
                </a:rPr>
                <a:t>1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817089" y="196807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2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807179" y="1959428"/>
            <a:ext cx="279919" cy="2799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488149" y="197019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4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8485476" y="1968078"/>
            <a:ext cx="279919" cy="2799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725883" y="1959427"/>
            <a:ext cx="279919" cy="279919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732808" y="196257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3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327986"/>
              </p:ext>
            </p:extLst>
          </p:nvPr>
        </p:nvGraphicFramePr>
        <p:xfrm>
          <a:off x="238125" y="863058"/>
          <a:ext cx="9324977" cy="6298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940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MA-001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이재영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25-09-03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335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MAIN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/>
                        <a:t>요구사항 </a:t>
                      </a:r>
                      <a:r>
                        <a:rPr lang="en-US" altLang="ko-KR" sz="1200" b="1" dirty="0" smtClean="0"/>
                        <a:t>ID</a:t>
                      </a:r>
                      <a:endParaRPr lang="ko-KR" altLang="en-US" sz="1200" b="1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UI-007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562100"/>
            <a:ext cx="9324976" cy="50768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/UI_UX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652676"/>
            <a:ext cx="9165689" cy="4932502"/>
          </a:xfrm>
          <a:prstGeom prst="rect">
            <a:avLst/>
          </a:prstGeom>
        </p:spPr>
      </p:pic>
      <p:graphicFrame>
        <p:nvGraphicFramePr>
          <p:cNvPr id="9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007421"/>
              </p:ext>
            </p:extLst>
          </p:nvPr>
        </p:nvGraphicFramePr>
        <p:xfrm>
          <a:off x="9801225" y="863062"/>
          <a:ext cx="2143126" cy="577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96777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 smtClean="0">
                          <a:solidFill>
                            <a:schemeClr val="bg1"/>
                          </a:solidFill>
                        </a:rPr>
                        <a:t>기능 명세서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상단 </a:t>
                      </a:r>
                      <a:r>
                        <a:rPr lang="en-US" altLang="ko-KR" sz="1000" smtClean="0"/>
                        <a:t>slickSlider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기능 정상화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MAIN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컨텐츠 </a:t>
                      </a:r>
                      <a:r>
                        <a:rPr lang="en-US" altLang="ko-KR" sz="1000" baseline="0" smtClean="0"/>
                        <a:t>UI </a:t>
                      </a:r>
                      <a:r>
                        <a:rPr lang="ko-KR" altLang="en-US" sz="1000" baseline="0" smtClean="0"/>
                        <a:t>개편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각 해상도에 맞는 배치 및 정렬 최적화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398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Check Point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</a:t>
                      </a:r>
                      <a:r>
                        <a:rPr lang="ko-KR" altLang="en-US" sz="1000" smtClean="0"/>
                        <a:t>반응형 웹페이지를 충족했는가</a:t>
                      </a:r>
                      <a:r>
                        <a:rPr lang="en-US" altLang="ko-KR" sz="1000" smtClean="0"/>
                        <a:t/>
                      </a:r>
                      <a:br>
                        <a:rPr lang="en-US" altLang="ko-KR" sz="1000" smtClean="0"/>
                      </a:br>
                      <a:r>
                        <a:rPr lang="en-US" altLang="ko-KR" sz="1000" smtClean="0"/>
                        <a:t>-</a:t>
                      </a:r>
                      <a:r>
                        <a:rPr lang="ko-KR" altLang="en-US" sz="1000" smtClean="0"/>
                        <a:t>콘텐츠들의 배치와 정렬이 최적화 되었는가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58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Related ID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-UI-007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1912775" y="2939143"/>
            <a:ext cx="279919" cy="285648"/>
            <a:chOff x="2192693" y="1959429"/>
            <a:chExt cx="279919" cy="285648"/>
          </a:xfrm>
        </p:grpSpPr>
        <p:sp>
          <p:nvSpPr>
            <p:cNvPr id="11" name="타원 10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97839" y="196807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smtClean="0">
                  <a:solidFill>
                    <a:srgbClr val="FF0000"/>
                  </a:solidFill>
                </a:rPr>
                <a:t>1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772815" y="3976103"/>
            <a:ext cx="279919" cy="285648"/>
            <a:chOff x="2192693" y="1959429"/>
            <a:chExt cx="279919" cy="285648"/>
          </a:xfrm>
        </p:grpSpPr>
        <p:sp>
          <p:nvSpPr>
            <p:cNvPr id="18" name="타원 17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97839" y="196807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>
                  <a:solidFill>
                    <a:srgbClr val="FF0000"/>
                  </a:solidFill>
                </a:rPr>
                <a:t>2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8154954" y="3976103"/>
            <a:ext cx="279919" cy="285648"/>
            <a:chOff x="2192693" y="1959429"/>
            <a:chExt cx="279919" cy="285648"/>
          </a:xfrm>
        </p:grpSpPr>
        <p:sp>
          <p:nvSpPr>
            <p:cNvPr id="21" name="타원 20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97839" y="196807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smtClean="0">
                  <a:solidFill>
                    <a:srgbClr val="FF0000"/>
                  </a:solidFill>
                </a:rPr>
                <a:t>3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177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091536"/>
              </p:ext>
            </p:extLst>
          </p:nvPr>
        </p:nvGraphicFramePr>
        <p:xfrm>
          <a:off x="238125" y="863058"/>
          <a:ext cx="9324977" cy="6298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940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FOOTER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FT-001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이재영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smtClean="0">
                          <a:solidFill>
                            <a:schemeClr val="tx1"/>
                          </a:solidFill>
                        </a:rPr>
                        <a:t>25-09-03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3358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4975" marT="37488" marB="37488" anchor="ctr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baseline="0" smtClean="0"/>
                        <a:t>FOOTER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/>
                        <a:t>요구사항 </a:t>
                      </a:r>
                      <a:r>
                        <a:rPr lang="en-US" altLang="ko-KR" sz="1200" b="1" dirty="0" smtClean="0"/>
                        <a:t>ID</a:t>
                      </a:r>
                      <a:endParaRPr lang="ko-KR" altLang="en-US" sz="1200" b="1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UI-005,</a:t>
                      </a:r>
                      <a:r>
                        <a:rPr lang="en-US" altLang="ko-KR" sz="1200" baseline="0" smtClean="0"/>
                        <a:t> 006</a:t>
                      </a:r>
                      <a:endParaRPr lang="ko-KR" altLang="en-US" sz="1200" dirty="0"/>
                    </a:p>
                  </a:txBody>
                  <a:tcPr marL="72000" marR="111621" marT="55810" marB="5581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562100"/>
            <a:ext cx="9324976" cy="50768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3-3. </a:t>
            </a:r>
            <a:r>
              <a:rPr lang="ko-KR" altLang="en-US" sz="2800" b="1" smtClean="0"/>
              <a:t>설계</a:t>
            </a:r>
            <a:r>
              <a:rPr lang="en-US" altLang="ko-KR" sz="2800" b="1" smtClean="0"/>
              <a:t>/UI_UX</a:t>
            </a:r>
            <a:r>
              <a:rPr lang="ko-KR" altLang="en-US" sz="2800" b="1" smtClean="0"/>
              <a:t>설계</a:t>
            </a:r>
            <a:endParaRPr lang="ko-KR" altLang="en-US" sz="28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652676"/>
            <a:ext cx="9165689" cy="4932502"/>
          </a:xfrm>
          <a:prstGeom prst="rect">
            <a:avLst/>
          </a:prstGeom>
        </p:spPr>
      </p:pic>
      <p:graphicFrame>
        <p:nvGraphicFramePr>
          <p:cNvPr id="9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63260"/>
              </p:ext>
            </p:extLst>
          </p:nvPr>
        </p:nvGraphicFramePr>
        <p:xfrm>
          <a:off x="9801225" y="863062"/>
          <a:ext cx="2143126" cy="577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96777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 smtClean="0">
                          <a:solidFill>
                            <a:schemeClr val="bg1"/>
                          </a:solidFill>
                        </a:rPr>
                        <a:t>기능 명세서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smtClean="0"/>
                        <a:t>FOOTER </a:t>
                      </a:r>
                      <a:r>
                        <a:rPr lang="ko-KR" altLang="en-US" sz="1000" baseline="0" smtClean="0"/>
                        <a:t>디자인 개편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/>
                        <a:t>FOOTER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내 컨텐츠 개편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aseline="0" smtClean="0"/>
                        <a:t>중복 컨텐츠 삭제</a:t>
                      </a:r>
                      <a:endParaRPr lang="en-US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967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398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Check Point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</a:t>
                      </a:r>
                      <a:r>
                        <a:rPr lang="ko-KR" altLang="en-US" sz="1000" smtClean="0"/>
                        <a:t>반응형 웹페이지를 충족했는가</a:t>
                      </a:r>
                      <a:r>
                        <a:rPr lang="en-US" altLang="ko-KR" sz="1000" smtClean="0"/>
                        <a:t/>
                      </a:r>
                      <a:br>
                        <a:rPr lang="en-US" altLang="ko-KR" sz="1000" smtClean="0"/>
                      </a:br>
                      <a:r>
                        <a:rPr lang="en-US" altLang="ko-KR" sz="1000" smtClean="0"/>
                        <a:t>-FOOTER </a:t>
                      </a:r>
                      <a:r>
                        <a:rPr lang="ko-KR" altLang="en-US" sz="1000" smtClean="0"/>
                        <a:t>내 컨텐츠가 충분한 정보를 제공하는가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5858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Related ID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9677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-UI-005,</a:t>
                      </a:r>
                      <a:r>
                        <a:rPr lang="en-US" altLang="ko-KR" sz="1000" baseline="0" smtClean="0"/>
                        <a:t> 006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658287" y="5579706"/>
            <a:ext cx="388248" cy="285648"/>
            <a:chOff x="2141853" y="1959429"/>
            <a:chExt cx="388248" cy="285648"/>
          </a:xfrm>
        </p:grpSpPr>
        <p:sp>
          <p:nvSpPr>
            <p:cNvPr id="11" name="타원 10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41853" y="1968078"/>
              <a:ext cx="3882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smtClean="0">
                  <a:solidFill>
                    <a:srgbClr val="FF0000"/>
                  </a:solidFill>
                </a:rPr>
                <a:t>1,2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8864081" y="5573977"/>
            <a:ext cx="279919" cy="285648"/>
            <a:chOff x="2192693" y="1959429"/>
            <a:chExt cx="279919" cy="285648"/>
          </a:xfrm>
        </p:grpSpPr>
        <p:sp>
          <p:nvSpPr>
            <p:cNvPr id="14" name="타원 13"/>
            <p:cNvSpPr/>
            <p:nvPr/>
          </p:nvSpPr>
          <p:spPr>
            <a:xfrm>
              <a:off x="2192693" y="1959429"/>
              <a:ext cx="279919" cy="27991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97839" y="196807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smtClean="0">
                  <a:solidFill>
                    <a:srgbClr val="FF0000"/>
                  </a:solidFill>
                </a:rPr>
                <a:t>3</a:t>
              </a:r>
              <a:endParaRPr lang="ko-KR" altLang="en-US" sz="12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079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3-4. </a:t>
            </a:r>
            <a:r>
              <a:rPr lang="ko-KR" altLang="en-US" sz="2800" b="1"/>
              <a:t>설계</a:t>
            </a:r>
            <a:r>
              <a:rPr lang="en-US" altLang="ko-KR" sz="2800" b="1" smtClean="0"/>
              <a:t>/Flow-Chart</a:t>
            </a:r>
            <a:endParaRPr lang="ko-KR" altLang="en-US" sz="2800" b="1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472404" y="1059422"/>
            <a:ext cx="1247192" cy="5318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메인화면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 rot="2700000">
            <a:off x="5736441" y="2258397"/>
            <a:ext cx="713711" cy="713711"/>
          </a:xfrm>
          <a:prstGeom prst="roundRect">
            <a:avLst/>
          </a:prstGeom>
          <a:solidFill>
            <a:srgbClr val="F5F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846035" y="2476752"/>
            <a:ext cx="494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메뉴</a:t>
            </a:r>
            <a:endParaRPr lang="ko-KR" altLang="en-US" sz="1200" b="1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485242" y="3198019"/>
            <a:ext cx="964981" cy="53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고객센터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374899" y="3198019"/>
            <a:ext cx="964981" cy="53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이벤트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264556" y="3198019"/>
            <a:ext cx="964981" cy="53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자료실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1154213" y="3198019"/>
            <a:ext cx="964981" cy="53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도서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6937551" y="3205713"/>
            <a:ext cx="1189246" cy="53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mtClean="0">
                <a:solidFill>
                  <a:schemeClr val="tx1"/>
                </a:solidFill>
              </a:rPr>
              <a:t>CONTAINER</a:t>
            </a:r>
            <a:br>
              <a:rPr lang="en-US" altLang="ko-KR" sz="1200" b="1" smtClean="0">
                <a:solidFill>
                  <a:schemeClr val="tx1"/>
                </a:solidFill>
              </a:rPr>
            </a:br>
            <a:r>
              <a:rPr lang="en-US" altLang="ko-KR" sz="1200" b="1" smtClean="0">
                <a:solidFill>
                  <a:schemeClr val="tx1"/>
                </a:solidFill>
              </a:rPr>
              <a:t>CONTENTS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472404" y="4485290"/>
            <a:ext cx="1247192" cy="5318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tx1"/>
                </a:solidFill>
              </a:rPr>
              <a:t>게시판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6937551" y="5764867"/>
            <a:ext cx="1189246" cy="5318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mtClean="0">
                <a:solidFill>
                  <a:schemeClr val="tx1"/>
                </a:solidFill>
              </a:rPr>
              <a:t>FOOTER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6096000" y="1686040"/>
            <a:ext cx="0" cy="376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/>
          <p:nvPr/>
        </p:nvCxnSpPr>
        <p:spPr>
          <a:xfrm>
            <a:off x="7027505" y="1325345"/>
            <a:ext cx="504669" cy="16312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/>
          <p:nvPr/>
        </p:nvCxnSpPr>
        <p:spPr>
          <a:xfrm rot="10800000" flipV="1">
            <a:off x="1636704" y="2591926"/>
            <a:ext cx="3797968" cy="3168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2769553" y="2591926"/>
            <a:ext cx="0" cy="316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3865081" y="2591926"/>
            <a:ext cx="0" cy="316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4969940" y="2591926"/>
            <a:ext cx="0" cy="316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636703" y="4066161"/>
            <a:ext cx="4456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1636704" y="3825559"/>
            <a:ext cx="0" cy="240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773400" y="3825559"/>
            <a:ext cx="1" cy="240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865082" y="3825559"/>
            <a:ext cx="1" cy="240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4975425" y="3825559"/>
            <a:ext cx="1" cy="240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6093296" y="4066161"/>
            <a:ext cx="0" cy="2659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7532174" y="4066161"/>
            <a:ext cx="0" cy="14109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/>
          <p:nvPr/>
        </p:nvCxnSpPr>
        <p:spPr>
          <a:xfrm rot="10800000">
            <a:off x="5173828" y="1325345"/>
            <a:ext cx="12700" cy="3425868"/>
          </a:xfrm>
          <a:prstGeom prst="bentConnector3">
            <a:avLst>
              <a:gd name="adj1" fmla="val 355959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080710" y="1727814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CLICK</a:t>
            </a:r>
            <a:endParaRPr lang="ko-KR" altLang="en-US" sz="1000"/>
          </a:p>
        </p:txBody>
      </p:sp>
      <p:sp>
        <p:nvSpPr>
          <p:cNvPr id="76" name="TextBox 75"/>
          <p:cNvSpPr txBox="1"/>
          <p:nvPr/>
        </p:nvSpPr>
        <p:spPr>
          <a:xfrm>
            <a:off x="7529471" y="2017879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SLIDE</a:t>
            </a:r>
            <a:endParaRPr lang="ko-KR" altLang="en-US" sz="1000"/>
          </a:p>
        </p:txBody>
      </p:sp>
      <p:sp>
        <p:nvSpPr>
          <p:cNvPr id="77" name="TextBox 76"/>
          <p:cNvSpPr txBox="1"/>
          <p:nvPr/>
        </p:nvSpPr>
        <p:spPr>
          <a:xfrm>
            <a:off x="7529471" y="4628102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SLIDE</a:t>
            </a:r>
            <a:endParaRPr lang="ko-KR" altLang="en-US" sz="1000"/>
          </a:p>
        </p:txBody>
      </p:sp>
      <p:sp>
        <p:nvSpPr>
          <p:cNvPr id="78" name="TextBox 77"/>
          <p:cNvSpPr txBox="1"/>
          <p:nvPr/>
        </p:nvSpPr>
        <p:spPr>
          <a:xfrm>
            <a:off x="743600" y="1727814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CLICK</a:t>
            </a:r>
            <a:endParaRPr lang="ko-KR" altLang="en-US" sz="1000"/>
          </a:p>
        </p:txBody>
      </p:sp>
      <p:sp>
        <p:nvSpPr>
          <p:cNvPr id="79" name="TextBox 78"/>
          <p:cNvSpPr txBox="1"/>
          <p:nvPr/>
        </p:nvSpPr>
        <p:spPr>
          <a:xfrm>
            <a:off x="3054482" y="2341690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CLICK</a:t>
            </a:r>
            <a:endParaRPr lang="ko-KR" altLang="en-US" sz="1000"/>
          </a:p>
        </p:txBody>
      </p:sp>
      <p:sp>
        <p:nvSpPr>
          <p:cNvPr id="80" name="TextBox 79"/>
          <p:cNvSpPr txBox="1"/>
          <p:nvPr/>
        </p:nvSpPr>
        <p:spPr>
          <a:xfrm>
            <a:off x="3054482" y="4123275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CLICK</a:t>
            </a:r>
            <a:endParaRPr lang="ko-KR" altLang="en-US" sz="1000"/>
          </a:p>
        </p:txBody>
      </p:sp>
      <p:sp>
        <p:nvSpPr>
          <p:cNvPr id="81" name="모서리가 둥근 직사각형 80"/>
          <p:cNvSpPr/>
          <p:nvPr/>
        </p:nvSpPr>
        <p:spPr>
          <a:xfrm>
            <a:off x="8347456" y="4485290"/>
            <a:ext cx="1247192" cy="5318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mtClean="0">
                <a:solidFill>
                  <a:schemeClr val="tx1"/>
                </a:solidFill>
              </a:rPr>
              <a:t>CONTENTS</a:t>
            </a:r>
            <a:br>
              <a:rPr lang="en-US" altLang="ko-KR" sz="1200" b="1" smtClean="0">
                <a:solidFill>
                  <a:schemeClr val="tx1"/>
                </a:solidFill>
              </a:rPr>
            </a:br>
            <a:r>
              <a:rPr lang="en-US" altLang="ko-KR" sz="1200" b="1" smtClean="0">
                <a:solidFill>
                  <a:schemeClr val="tx1"/>
                </a:solidFill>
              </a:rPr>
              <a:t>LINK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82" name="꺾인 연결선 81"/>
          <p:cNvCxnSpPr/>
          <p:nvPr/>
        </p:nvCxnSpPr>
        <p:spPr>
          <a:xfrm>
            <a:off x="8364396" y="3471636"/>
            <a:ext cx="605911" cy="7274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007172" y="3697836"/>
            <a:ext cx="5196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CLICK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7361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936069"/>
              </p:ext>
            </p:extLst>
          </p:nvPr>
        </p:nvGraphicFramePr>
        <p:xfrm>
          <a:off x="838200" y="1278292"/>
          <a:ext cx="10515600" cy="4464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62036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>
                          <a:latin typeface="+mj-lt"/>
                        </a:rPr>
                        <a:t>대구분</a:t>
                      </a:r>
                      <a:endParaRPr lang="ko-KR" altLang="en-US" sz="1600" dirty="0">
                        <a:latin typeface="+mj-lt"/>
                      </a:endParaRPr>
                    </a:p>
                  </a:txBody>
                  <a:tcPr marL="72000" marR="0" marT="72000" marB="72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>
                          <a:latin typeface="+mj-lt"/>
                        </a:rPr>
                        <a:t>중구분</a:t>
                      </a:r>
                      <a:endParaRPr lang="ko-KR" altLang="en-US" sz="1600" dirty="0">
                        <a:latin typeface="+mj-lt"/>
                      </a:endParaRPr>
                    </a:p>
                  </a:txBody>
                  <a:tcPr marL="72000" marR="0" marT="72000" marB="72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j-lt"/>
                        </a:rPr>
                        <a:t>설명</a:t>
                      </a:r>
                    </a:p>
                  </a:txBody>
                  <a:tcPr marL="72000" marR="0" marT="72000" marB="72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+mj-lt"/>
                        </a:rPr>
                        <a:t>비고</a:t>
                      </a:r>
                    </a:p>
                  </a:txBody>
                  <a:tcPr marL="72000" marR="0" marT="72000" marB="72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lt"/>
                        </a:rPr>
                        <a:t>저작권</a:t>
                      </a:r>
                      <a:r>
                        <a:rPr lang="en-US" altLang="ko-KR" sz="1400" baseline="0" smtClean="0">
                          <a:latin typeface="+mn-lt"/>
                        </a:rPr>
                        <a:t> </a:t>
                      </a:r>
                      <a:r>
                        <a:rPr lang="ko-KR" altLang="en-US" sz="1400" smtClean="0">
                          <a:latin typeface="+mn-lt"/>
                        </a:rPr>
                        <a:t>정책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n-lt"/>
                        </a:rPr>
                        <a:t>국가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+mn-lt"/>
                        </a:rPr>
                        <a:t>북한을 제외한 모든 국가 선택 가능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+mn-lt"/>
                        </a:rPr>
                        <a:t>지원언어는 한국어 </a:t>
                      </a:r>
                      <a:r>
                        <a:rPr lang="en-US" altLang="ko-KR" sz="1200" dirty="0">
                          <a:latin typeface="+mn-lt"/>
                        </a:rPr>
                        <a:t>/ </a:t>
                      </a:r>
                      <a:r>
                        <a:rPr lang="ko-KR" altLang="en-US" sz="1200" dirty="0">
                          <a:latin typeface="+mn-lt"/>
                        </a:rPr>
                        <a:t>영어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lt"/>
                        </a:rPr>
                        <a:t>위치지도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>
                          <a:latin typeface="+mn-lt"/>
                        </a:rPr>
                        <a:t>국내 카카오 </a:t>
                      </a:r>
                      <a:r>
                        <a:rPr lang="ko-KR" altLang="en-US" sz="1200" dirty="0" err="1">
                          <a:latin typeface="+mn-lt"/>
                        </a:rPr>
                        <a:t>맵과</a:t>
                      </a:r>
                      <a:r>
                        <a:rPr lang="ko-KR" altLang="en-US" sz="1200" dirty="0">
                          <a:latin typeface="+mn-lt"/>
                        </a:rPr>
                        <a:t> 연동</a:t>
                      </a:r>
                      <a:endParaRPr lang="en-US" altLang="ko-KR" sz="12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n-lt"/>
                        </a:rPr>
                        <a:t>연락처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E164 formatting </a:t>
                      </a:r>
                      <a:r>
                        <a:rPr lang="ko-KR" altLang="en-US" sz="1200" dirty="0">
                          <a:latin typeface="+mn-lt"/>
                        </a:rPr>
                        <a:t>표준으로 진행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 1: </a:t>
                      </a:r>
                      <a:r>
                        <a:rPr lang="en-US" altLang="ko-KR" sz="1200" dirty="0">
                          <a:latin typeface="+mn-lt"/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sz="1200" dirty="0">
                          <a:latin typeface="+mn-lt"/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sz="1200" dirty="0">
                          <a:latin typeface="+mn-lt"/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sz="1200" dirty="0">
                          <a:latin typeface="+mn-lt"/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sz="1200" dirty="0">
                          <a:latin typeface="+mn-lt"/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sz="1200" dirty="0">
                          <a:latin typeface="+mn-lt"/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sz="1200" dirty="0">
                        <a:latin typeface="+mn-lt"/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sz="1200" dirty="0">
                          <a:latin typeface="+mn-lt"/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sz="1200" dirty="0">
                          <a:latin typeface="+mn-lt"/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sz="1200" dirty="0">
                          <a:latin typeface="+mn-lt"/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sz="12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n-lt"/>
                        </a:rPr>
                        <a:t>2</a:t>
                      </a:r>
                      <a:r>
                        <a:rPr lang="ko-KR" altLang="en-US" sz="1200" dirty="0">
                          <a:latin typeface="+mn-lt"/>
                        </a:rPr>
                        <a:t>안 채택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+mn-lt"/>
                        </a:rPr>
                        <a:t>통화</a:t>
                      </a: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ISO </a:t>
                      </a:r>
                      <a:r>
                        <a:rPr lang="ko-KR" altLang="en-US" sz="1200" dirty="0">
                          <a:latin typeface="+mn-lt"/>
                        </a:rPr>
                        <a:t>표준으로 진행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</a:t>
                      </a:r>
                      <a:r>
                        <a:rPr lang="ko-KR" altLang="en-US" sz="1200" dirty="0">
                          <a:latin typeface="+mn-lt"/>
                        </a:rPr>
                        <a:t> </a:t>
                      </a:r>
                      <a:r>
                        <a:rPr lang="en-US" altLang="ko-KR" sz="1200" dirty="0">
                          <a:latin typeface="+mn-lt"/>
                        </a:rPr>
                        <a:t>1:</a:t>
                      </a:r>
                      <a:r>
                        <a:rPr lang="ko-KR" altLang="en-US" sz="1200" dirty="0">
                          <a:latin typeface="+mn-lt"/>
                        </a:rPr>
                        <a:t> 국가</a:t>
                      </a:r>
                      <a:r>
                        <a:rPr lang="en-US" altLang="ko-KR" sz="1200" dirty="0">
                          <a:latin typeface="+mn-lt"/>
                        </a:rPr>
                        <a:t>-</a:t>
                      </a:r>
                      <a:r>
                        <a:rPr lang="ko-KR" altLang="en-US" sz="1200" dirty="0">
                          <a:latin typeface="+mn-lt"/>
                        </a:rPr>
                        <a:t>통화명칭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 2: </a:t>
                      </a:r>
                      <a:r>
                        <a:rPr lang="ko-KR" altLang="en-US" sz="1200" dirty="0">
                          <a:latin typeface="+mn-lt"/>
                        </a:rPr>
                        <a:t>국가</a:t>
                      </a: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n-lt"/>
                        </a:rPr>
                        <a:t>1</a:t>
                      </a:r>
                      <a:r>
                        <a:rPr lang="ko-KR" altLang="en-US" sz="1200" dirty="0">
                          <a:latin typeface="+mn-lt"/>
                        </a:rPr>
                        <a:t>안 채택</a:t>
                      </a:r>
                    </a:p>
                  </a:txBody>
                  <a:tcPr marL="72000" marR="0" marT="72000" marB="72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+mn-lt"/>
                        </a:rPr>
                        <a:t>타임존</a:t>
                      </a:r>
                      <a:endParaRPr lang="ko-KR" altLang="en-US" sz="1400" dirty="0">
                        <a:latin typeface="+mn-lt"/>
                      </a:endParaRP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ISO </a:t>
                      </a:r>
                      <a:r>
                        <a:rPr lang="ko-KR" altLang="en-US" sz="1200" dirty="0">
                          <a:latin typeface="+mn-lt"/>
                        </a:rPr>
                        <a:t>표준으로 진행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 1: </a:t>
                      </a:r>
                      <a:r>
                        <a:rPr lang="ko-KR" altLang="en-US" sz="1200" dirty="0">
                          <a:latin typeface="+mn-lt"/>
                        </a:rPr>
                        <a:t>국가</a:t>
                      </a:r>
                      <a:r>
                        <a:rPr lang="en-US" altLang="ko-KR" sz="1200" dirty="0">
                          <a:latin typeface="+mn-lt"/>
                        </a:rPr>
                        <a:t>-</a:t>
                      </a:r>
                      <a:r>
                        <a:rPr lang="ko-KR" altLang="en-US" sz="1200" dirty="0">
                          <a:latin typeface="+mn-lt"/>
                        </a:rPr>
                        <a:t>지역</a:t>
                      </a:r>
                      <a:endParaRPr lang="en-US" altLang="ko-KR" sz="1200" dirty="0">
                        <a:latin typeface="+mn-lt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 2: </a:t>
                      </a:r>
                      <a:r>
                        <a:rPr lang="ko-KR" altLang="en-US" sz="1200" dirty="0">
                          <a:latin typeface="+mn-lt"/>
                        </a:rPr>
                        <a:t>국가</a:t>
                      </a:r>
                      <a:r>
                        <a:rPr lang="en-US" altLang="ko-KR" sz="1200" dirty="0">
                          <a:latin typeface="+mn-lt"/>
                        </a:rPr>
                        <a:t>-</a:t>
                      </a:r>
                      <a:r>
                        <a:rPr lang="ko-KR" altLang="en-US" sz="1200" dirty="0">
                          <a:latin typeface="+mn-lt"/>
                        </a:rPr>
                        <a:t>지역</a:t>
                      </a:r>
                      <a:r>
                        <a:rPr lang="en-US" altLang="ko-KR" sz="1200" dirty="0">
                          <a:latin typeface="+mn-lt"/>
                        </a:rPr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dirty="0">
                          <a:latin typeface="+mn-lt"/>
                        </a:rPr>
                        <a:t>Case 3: </a:t>
                      </a:r>
                      <a:r>
                        <a:rPr lang="ko-KR" altLang="en-US" sz="1200" dirty="0">
                          <a:latin typeface="+mn-lt"/>
                        </a:rPr>
                        <a:t>지역</a:t>
                      </a:r>
                      <a:r>
                        <a:rPr lang="en-US" altLang="ko-KR" sz="1200" dirty="0">
                          <a:latin typeface="+mn-lt"/>
                        </a:rPr>
                        <a:t>-(GMT+09:00)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n-lt"/>
                        </a:rPr>
                        <a:t>3</a:t>
                      </a:r>
                      <a:r>
                        <a:rPr lang="ko-KR" altLang="en-US" sz="1200" dirty="0">
                          <a:latin typeface="+mn-lt"/>
                        </a:rPr>
                        <a:t>안 채택</a:t>
                      </a:r>
                    </a:p>
                  </a:txBody>
                  <a:tcPr marL="72000" marR="0" marT="72000" marB="720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3-5. </a:t>
            </a:r>
            <a:r>
              <a:rPr lang="ko-KR" altLang="en-US" sz="2800" b="1"/>
              <a:t>설계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정책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3-6. </a:t>
            </a:r>
            <a:r>
              <a:rPr lang="ko-KR" altLang="en-US" sz="2800" b="1"/>
              <a:t>설계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권한</a:t>
            </a:r>
            <a:endParaRPr lang="ko-KR" altLang="en-US" sz="2800" b="1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110075"/>
              </p:ext>
            </p:extLst>
          </p:nvPr>
        </p:nvGraphicFramePr>
        <p:xfrm>
          <a:off x="838200" y="1755370"/>
          <a:ext cx="10515600" cy="35269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6017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대구분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중구분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사용자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보기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수정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삭제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쓰기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비고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9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페이지별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권한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메인 배너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관리자 계정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디자이너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클라이언트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도서 게시판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관리자 계정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디자이너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클라이언트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도서 소개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관리자 계정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디자이너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클라이언트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>
            <a:normAutofit/>
          </a:bodyPr>
          <a:lstStyle/>
          <a:p>
            <a:r>
              <a:rPr lang="ko-KR" altLang="en-US" sz="2800" b="1" smtClean="0"/>
              <a:t> </a:t>
            </a:r>
            <a:r>
              <a:rPr lang="en-US" altLang="ko-KR" sz="2800" b="1" smtClean="0"/>
              <a:t>3-7. </a:t>
            </a:r>
            <a:r>
              <a:rPr lang="ko-KR" altLang="en-US" sz="2800" b="1"/>
              <a:t>설계</a:t>
            </a:r>
            <a:r>
              <a:rPr lang="en-US" altLang="ko-KR" sz="2800" b="1" smtClean="0"/>
              <a:t>/</a:t>
            </a:r>
            <a:r>
              <a:rPr lang="ko-KR" altLang="en-US" sz="2800" b="1" smtClean="0"/>
              <a:t>유효성 검사</a:t>
            </a:r>
            <a:endParaRPr lang="ko-KR" altLang="en-US" sz="28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06184"/>
              </p:ext>
            </p:extLst>
          </p:nvPr>
        </p:nvGraphicFramePr>
        <p:xfrm>
          <a:off x="838200" y="1779225"/>
          <a:ext cx="10515600" cy="367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988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1912775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127380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5671457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5923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번호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상황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문구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처리 시나리오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5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513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6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830</Words>
  <Application>Microsoft Office PowerPoint</Application>
  <PresentationFormat>와이드스크린</PresentationFormat>
  <Paragraphs>361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PowerPoint 프레젠테이션</vt:lpstr>
      <vt:lpstr>          목차</vt:lpstr>
      <vt:lpstr> 1. 히스토리</vt:lpstr>
      <vt:lpstr> 2. 메뉴구조(사이트맵)</vt:lpstr>
      <vt:lpstr> 2. 메뉴구조(사이트맵)</vt:lpstr>
      <vt:lpstr> 3-1. 설계/아키텍처/메뉴 구조</vt:lpstr>
      <vt:lpstr> 3-1. 설계/아키텍처/프로젝트 전체 현황</vt:lpstr>
      <vt:lpstr> 3-2. 설계/DB설계</vt:lpstr>
      <vt:lpstr> 3-3. 설계/UI, UX설계</vt:lpstr>
      <vt:lpstr> 3-3. 설계/UI, UX설계</vt:lpstr>
      <vt:lpstr> 3-3. 설계/UI, UX설계</vt:lpstr>
      <vt:lpstr> 3-3. 설계/UI, UX설계</vt:lpstr>
      <vt:lpstr> 3-3. 설계/UI_UX설계</vt:lpstr>
      <vt:lpstr> 3-3. 설계/UI_UX설계</vt:lpstr>
      <vt:lpstr> 3-3. 설계/UI_UX설계</vt:lpstr>
      <vt:lpstr> 3-4. 설계/Flow-Chart</vt:lpstr>
      <vt:lpstr> 3-5. 설계/정책</vt:lpstr>
      <vt:lpstr> 3-6. 설계/권한</vt:lpstr>
      <vt:lpstr> 3-7. 설계/유효성 검사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dw-007</cp:lastModifiedBy>
  <cp:revision>101</cp:revision>
  <dcterms:created xsi:type="dcterms:W3CDTF">2023-07-14T02:26:15Z</dcterms:created>
  <dcterms:modified xsi:type="dcterms:W3CDTF">2025-09-09T01:06:15Z</dcterms:modified>
</cp:coreProperties>
</file>